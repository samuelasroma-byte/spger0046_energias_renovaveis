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Masters/s01_notesMaster1.xml" ContentType="application/vnd.openxmlformats-officedocument.presentationml.notesMaster+xml"/>
  <Override PartName="/ppt/notesMasters/theme/s01_theme3.xml" ContentType="application/vnd.openxmlformats-officedocument.theme+xml"/>
  <Override PartName="/ppt/notesSlides/s01r2_notesSlide5.xml" ContentType="application/vnd.openxmlformats-officedocument.presentationml.notesSlide+xml"/>
  <Override PartName="/ppt/notesMasters/s01r2_notesMaster1.xml" ContentType="application/vnd.openxmlformats-officedocument.presentationml.notesMaster+xml"/>
  <Override PartName="/ppt/notesMasters/theme/s01r2_theme3.xml" ContentType="application/vnd.openxmlformats-officedocument.theme+xml"/>
  <Override PartName="/ppt/notesSlides/s01r2_notesSlide6.xml" ContentType="application/vnd.openxmlformats-officedocument.presentationml.notesSlide+xml"/>
  <Override PartName="/ppt/notesSlides/s01r2_notesSlide7.xml" ContentType="application/vnd.openxmlformats-officedocument.presentationml.notesSlide+xml"/>
  <Override PartName="/ppt/notesSlides/s01r2_notesSlide8.xml" ContentType="application/vnd.openxmlformats-officedocument.presentationml.notesSlide+xml"/>
  <Override PartName="/ppt/notesSlides/s01r2_notesSlide9.xml" ContentType="application/vnd.openxmlformats-officedocument.presentationml.notesSlide+xml"/>
  <Override PartName="/ppt/notesSlides/s01r2_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Secao01Notes0"/>
    <p:notesMasterId r:id="rIdSecao01ConfrontoNotes0"/>
  </p:notesMasterIdLst>
  <p:sldIdLst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Secao01Notes0" Type="http://schemas.openxmlformats.org/officeDocument/2006/relationships/notesMaster" Target="notesMasters/s01_notesMaster1.xml"/><Relationship Id="rIdSecao01ConfrontoNotes0" Type="http://schemas.openxmlformats.org/officeDocument/2006/relationships/notesMaster" Target="notesMasters/s01r2_notesMaster1.xml"/></Relationships>
</file>

<file path=ppt/notesMasters/_rels/s01_notesMaster1.xml.rels><?xml version='1.0' encoding='UTF-8' standalone='yes'?>
<Relationships xmlns="http://schemas.openxmlformats.org/package/2006/relationships"><Relationship Type="http://schemas.openxmlformats.org/officeDocument/2006/relationships/theme" Target="theme/s01_theme3.xml" Id="Rd9e87db079dd4712"/></Relationships>
</file>

<file path=ppt/notesMasters/_rels/s01r2_notesMaster1.xml.rels><?xml version='1.0' encoding='UTF-8' standalone='yes'?>
<Relationships xmlns="http://schemas.openxmlformats.org/package/2006/relationships"><Relationship Type="http://schemas.openxmlformats.org/officeDocument/2006/relationships/theme" Target="theme/s01r2_theme3.xml" Id="Rff86ae1cc7d04dd8"/></Relationships>
</file>

<file path=ppt/notesMasters/s01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s01r2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s01_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Masters/theme/s01r2_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s01r2_notesSlide5.xml.rels><?xml version='1.0' encoding='UTF-8' standalone='yes'?>
<Relationships xmlns="http://schemas.openxmlformats.org/package/2006/relationships"><Relationship Type="http://schemas.openxmlformats.org/officeDocument/2006/relationships/slide" Target="../slides/slide5.xml" Id="Rff4dcc3aea3a4a0d"/><Relationship Type="http://schemas.openxmlformats.org/officeDocument/2006/relationships/notesMaster" Target="../notesMasters/s01r2_notesMaster1.xml" Id="Rf08abd26336d4c95"/></Relationships>
</file>

<file path=ppt/notesSlides/_rels/s01r2_notesSlide6.xml.rels><?xml version='1.0' encoding='UTF-8' standalone='yes'?>
<Relationships xmlns="http://schemas.openxmlformats.org/package/2006/relationships"><Relationship Type="http://schemas.openxmlformats.org/officeDocument/2006/relationships/slide" Target="../slides/slide6.xml" Id="R6c29a874b43d4111"/><Relationship Type="http://schemas.openxmlformats.org/officeDocument/2006/relationships/notesMaster" Target="../notesMasters/s01r2_notesMaster1.xml" Id="R79326f5557994a77"/></Relationships>
</file>

<file path=ppt/notesSlides/_rels/s01r2_notesSlide7.xml.rels><?xml version='1.0' encoding='UTF-8' standalone='yes'?>
<Relationships xmlns="http://schemas.openxmlformats.org/package/2006/relationships"><Relationship Type="http://schemas.openxmlformats.org/officeDocument/2006/relationships/slide" Target="../slides/slide7.xml" Id="R25f3035fb5b94c1b"/><Relationship Type="http://schemas.openxmlformats.org/officeDocument/2006/relationships/notesMaster" Target="../notesMasters/s01r2_notesMaster1.xml" Id="R3e6e2e9d1b9841b4"/></Relationships>
</file>

<file path=ppt/notesSlides/_rels/s01r2_notesSlide8.xml.rels><?xml version='1.0' encoding='UTF-8' standalone='yes'?>
<Relationships xmlns="http://schemas.openxmlformats.org/package/2006/relationships"><Relationship Type="http://schemas.openxmlformats.org/officeDocument/2006/relationships/slide" Target="../slides/slide8.xml" Id="Rb739993fc2ab4183"/><Relationship Type="http://schemas.openxmlformats.org/officeDocument/2006/relationships/notesMaster" Target="../notesMasters/s01r2_notesMaster1.xml" Id="Rd8ae229daa5c4736"/></Relationships>
</file>

<file path=ppt/notesSlides/_rels/s01r2_notesSlide9.xml.rels><?xml version='1.0' encoding='UTF-8' standalone='yes'?>
<Relationships xmlns="http://schemas.openxmlformats.org/package/2006/relationships"><Relationship Type="http://schemas.openxmlformats.org/officeDocument/2006/relationships/slide" Target="../slides/slide9.xml" Id="R5d3b72ef08c648db"/><Relationship Type="http://schemas.openxmlformats.org/officeDocument/2006/relationships/notesMaster" Target="../notesMasters/s01r2_notesMaster1.xml" Id="Rd815ad30cdd745f8"/></Relationships>
</file>

<file path=ppt/notesSlides/_rels/s01r2_notesSlide10.xml.rels><?xml version='1.0' encoding='UTF-8' standalone='yes'?>
<Relationships xmlns="http://schemas.openxmlformats.org/package/2006/relationships"><Relationship Type="http://schemas.openxmlformats.org/officeDocument/2006/relationships/slide" Target="../slides/slide10.xml" Id="Rdcceafa84b8741b3"/><Relationship Type="http://schemas.openxmlformats.org/officeDocument/2006/relationships/notesMaster" Target="../notesMasters/s01r2_notesMaster1.xml" Id="R83d205e5ee6e4748"/></Relationships>
</file>

<file path=ppt/notesSlides/s01r2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Definir a direção solar sem confundir direção com fluxo medido. O esquema é didático e não representa uma observação. θz é contado da vertical e αs da horizontal. A vista em planta define A_s, azimute horário desde o norte. No livro Duffie, γ_s parte do sul, negativo para leste e positivo para oeste: A_s=(γ_s+180°) mod 360°. No zênite o azimute é indefinido. Fontes verificadas: B12 p. 13/PDF31; A045 cap. 2-8/PDF37.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01r2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equação relaciona latitude, declinação e ângulo horário e expressa a trigonometria esférica. ω=0 no meio-dia solar, que não coincide necessariamente com 12h civis. A notação t_sol está em horas de tempo solar verdadeiro; ω=15°(t_sol/1h−12). Não misturar graus e radianos em sin/cos. Esta equação elementar não inclui refração; no SPA zenith e apparent_zenith são saídas distintas. Fontes: B12 pp.13–15/PDF31–33; B32 pp.10–11/PDF16–17.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01r2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inverso do quadrado relaciona a irradiância normal à distância Terra–Sol. Spencer aproxima o fator orbital E0; não calcula nuvens, absorção nem radiação difusa. Aqui Gsc=1366,1 W/m² é uma constante de compatibilidade da implementação, não uma nova determinação metrológica da constante solar. O coeficiente de cos(2B) é 0,000719 conforme código conferido do pvlib 0.16.1; o exemplar B12 apresenta 0,00719 na equação 1.4.1b, divergência registrada na conferência. A projeção usa o zenital geométrico e é anulada com o Sol abaixo do horizonte. O ano 2024 é bissexto, mas o denominador 365 é mantido para reproduzir o método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01r2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as duas ramificações: localização e instante alimentam o SPA; o dia do ano alimenta Spencer; zenital e G0n entram na projeção. Não há dependência conceitual de Spencer em relação ao SPA. POA representa médias de 15 minutos, rotuladas pelo início; os ângulos são calculados 7min30s depois. A pressão é estimada da altitude de 10 m; temperatura de refração 12°C e ΔT=67s são padrões de compatibilidade mantidos do projeto. São parâmetros do cálculo, não medições atmosféricas. A comparação com o exemplo publicado do SPA verifica a implementação, e não valida os sensores do PVDAQ.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01r2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POA é observacional; os ângulos são calculados. A janela do gráfico é 05h–21h locais; o CSV preserva as 96 posições do dia. Há 94 médias POA não ausentes e 68 intervalos com três amostras originais. Não preencher lacunas. A incidência utiliza zenital aparente e orientação 25°/180°, conforme a configuração coletiva, enquanto a projeção extraterrestre usa zenital geométrico. Não interpretar o máximo próximo do meio-dia como validação independente do SPA nem declarar céu claro apenas pela forma da curva. Os dados são um exemplo diário de abril–junho/2024; não estabelecem climatologia ou efeito atmosférico causal. GHI/DNI/DHI locais independentes não estão disponíveis nesta seleção. Fontes: CSV observado preparado, configuração vigente, B32.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01r2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Retomar a distinção entre referência geométrica e irradiância efetiva. A geometria fornece o referencial; a atmosfera modifica o campo radiativo. Os sensores permitem confrontar grandezas compatíveis, mas um sensor POA não constitui uma medição independente de cada componente horizontal. Massa de ar relativa é uma ligação com a atmosfera: secante do zenital apenas em domínio moderado, sem validade no horizonte; parametrizações devem distinguir pressão e refração. A próxima subseção formaliza irradiância, irradiação e componentes. Não antecipar modelos térmicos, elétricos nem de desempenho dos colegas.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aabc3acfaa9d4475"/><Relationship Type="http://schemas.openxmlformats.org/officeDocument/2006/relationships/image" Target="../media/s01r2_image3.png" Id="R871ff3f33da64571"/><Relationship Type="http://schemas.openxmlformats.org/officeDocument/2006/relationships/image" Target="../media/s01r2_image.svg" Id="Rdf1a0e4979a74f74"/><Relationship Type="http://schemas.openxmlformats.org/officeDocument/2006/relationships/image" Target="../media/s01r2_image4.png" Id="R6078aeb87fe84934"/><Relationship Type="http://schemas.openxmlformats.org/officeDocument/2006/relationships/image" Target="../media/s01r2_image2.svg" Id="R6ac2cd9bdc8540ac"/><Relationship Type="http://schemas.openxmlformats.org/officeDocument/2006/relationships/notesSlide" Target="../notesSlides/s01r2_notesSlide5.xml" Id="R2ec3331597494c9a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d856cbaed0d34584"/><Relationship Type="http://schemas.openxmlformats.org/officeDocument/2006/relationships/image" Target="../media/s01r2_image5.png" Id="R36cfc8ef644040c4"/><Relationship Type="http://schemas.openxmlformats.org/officeDocument/2006/relationships/image" Target="../media/s01r2_image3.svg" Id="R52c6a493e66e4aca"/><Relationship Type="http://schemas.openxmlformats.org/officeDocument/2006/relationships/image" Target="../media/s01r2_image6.png" Id="Re6f561ef9b0346c8"/><Relationship Type="http://schemas.openxmlformats.org/officeDocument/2006/relationships/image" Target="../media/s01r2_image4.svg" Id="R93c0de8a2ef84d7e"/><Relationship Type="http://schemas.openxmlformats.org/officeDocument/2006/relationships/notesSlide" Target="../notesSlides/s01r2_notesSlide6.xml" Id="Rc3283002e04149d8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de1f0ed87acf4301"/><Relationship Type="http://schemas.openxmlformats.org/officeDocument/2006/relationships/image" Target="../media/s01r2_image7.png" Id="Ra0c1424b4d9b4257"/><Relationship Type="http://schemas.openxmlformats.org/officeDocument/2006/relationships/image" Target="../media/s01r2_image5.svg" Id="Rf4dbce14225641cc"/><Relationship Type="http://schemas.openxmlformats.org/officeDocument/2006/relationships/image" Target="../media/s01r2_image8.png" Id="Rdaf6c9ae0cd448a6"/><Relationship Type="http://schemas.openxmlformats.org/officeDocument/2006/relationships/image" Target="../media/s01r2_image6.svg" Id="R3b8c44721ceb4e2e"/><Relationship Type="http://schemas.openxmlformats.org/officeDocument/2006/relationships/image" Target="../media/s01r2_image9.png" Id="R7d82687755464225"/><Relationship Type="http://schemas.openxmlformats.org/officeDocument/2006/relationships/image" Target="../media/s01r2_image7.svg" Id="Rab842a6d23d54b71"/><Relationship Type="http://schemas.openxmlformats.org/officeDocument/2006/relationships/notesSlide" Target="../notesSlides/s01r2_notesSlide7.xml" Id="R60d15074626a4eb1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67c3a48f568b40b0"/><Relationship Type="http://schemas.openxmlformats.org/officeDocument/2006/relationships/image" Target="../media/s01r2_image10.png" Id="Re69f539d0d8b43b6"/><Relationship Type="http://schemas.openxmlformats.org/officeDocument/2006/relationships/image" Target="../media/s01r2_image8.svg" Id="R9edb2fb5a54c48d5"/><Relationship Type="http://schemas.openxmlformats.org/officeDocument/2006/relationships/notesSlide" Target="../notesSlides/s01r2_notesSlide8.xml" Id="Ra6013b367a8d4a63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b425a3b55bed4a4f"/><Relationship Type="http://schemas.openxmlformats.org/officeDocument/2006/relationships/image" Target="../media/s01r2_image11.png" Id="R09165652d0494693"/><Relationship Type="http://schemas.openxmlformats.org/officeDocument/2006/relationships/image" Target="../media/s01r2_image9.svg" Id="R79edf38deeaa4509"/><Relationship Type="http://schemas.openxmlformats.org/officeDocument/2006/relationships/notesSlide" Target="../notesSlides/s01r2_notesSlide9.xml" Id="R5179b5d5394d46bb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7.xml" Id="R5eea4a2d70694e34"/><Relationship Type="http://schemas.openxmlformats.org/officeDocument/2006/relationships/notesSlide" Target="../notesSlides/s01r2_notesSlide10.xml" Id="Re77269f8af1f4c5c"/></Relationships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4F83615-C3FC-4847-A4A9-DEF41751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999D622-9F65-441A-9F6D-8093D4D0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112654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867ADCC-8261-4B71-8962-33CA6823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1440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UFPB  ·  CEAR  ·  PPGER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FA886C1-4A93-4AB5-85E7-50DB14C5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1440"/>
            <a:ext cx="29443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SPGER0046  ·  29 OUT 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EA5F02D-D6DA-4C64-82DF-DC0A3F89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7376"/>
            <a:ext cx="11265408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6039DFC-E343-4111-8AE5-610CB8A1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83680"/>
            <a:ext cx="10561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0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Recurso solar e modelagem da conversão fotovoltaica</a:t>
            </a:r>
          </a:p>
        </p:txBody>
      </p:sp>
      <p:sp>
        <p:nvSpPr>
          <p:cNvPr id="13" name="PAGINA_EDITAVEL_04">
            <a:extLst xmlns:a="http://schemas.openxmlformats.org/drawingml/2006/main">
              <a:ext uri="{FF2B5EF4-FFF2-40B4-BE49-F238E27FC236}">
                <a16:creationId xmlns:a16="http://schemas.microsoft.com/office/drawing/2014/main" id="{BD5E0C0D-156E-41D5-A09E-41A7A15B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65392"/>
            <a:ext cx="48463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4" name="titulo_secao11">
            <a:extLst xmlns:a="http://schemas.openxmlformats.org/drawingml/2006/main">
              <a:ext uri="{FF2B5EF4-FFF2-40B4-BE49-F238E27FC236}">
                <a16:creationId xmlns:a16="http://schemas.microsoft.com/office/drawing/2014/main" id="{28EDABE8-A2FF-4C40-AAA1-8CDB7688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81025"/>
            <a:ext cx="1109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1.1 · GEOMETRIA SOLAR</a:t>
            </a:r>
          </a:p>
        </p:txBody>
      </p:sp>
      <p:sp>
        <p:nvSpPr>
          <p:cNvPr id="15" name="enunciado">
            <a:extLst xmlns:a="http://schemas.openxmlformats.org/drawingml/2006/main">
              <a:ext uri="{FF2B5EF4-FFF2-40B4-BE49-F238E27FC236}">
                <a16:creationId xmlns:a16="http://schemas.microsoft.com/office/drawing/2014/main" id="{6416CCA5-D04A-4A87-A601-863184F0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3500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A direção do Sol organiza a projeção do feixe direto.</a:t>
            </a:r>
          </a:p>
        </p:txBody>
      </p:sp>
      <p:pic>
        <p:nvPicPr>
          <p:cNvPr id="16" name="D01_geometria" descr="D01_geometria — figura científica de alto contraste; fonte e dados no pacote reproduzível">
            <a:extLst xmlns:a="http://schemas.openxmlformats.org/drawingml/2006/main">
              <a:ext uri="{FF2B5EF4-FFF2-40B4-BE49-F238E27FC236}">
                <a16:creationId xmlns:a16="http://schemas.microsoft.com/office/drawing/2014/main" id="{072755BB-FBEE-4111-95F9-E212915CEE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ff3f33da64571">
            <a:extLst>
              <a:ext uri="{96DAC541-7B7A-43D3-8B79-37D633B846F1}">
                <asvg:svgBlip xmlns:asvg="http://schemas.microsoft.com/office/drawing/2016/SVG/main" r:embed="Rdf1a0e4979a74f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5896" y="2047875"/>
            <a:ext cx="6558709" cy="3476625"/>
          </a:xfrm>
          <a:prstGeom xmlns:a="http://schemas.openxmlformats.org/drawingml/2006/main" prst="rect">
            <a:avLst/>
          </a:prstGeom>
        </p:spPr>
      </p:pic>
      <p:sp>
        <p:nvSpPr>
          <p:cNvPr id="17" name="conteudo_1">
            <a:extLst xmlns:a="http://schemas.openxmlformats.org/drawingml/2006/main">
              <a:ext uri="{FF2B5EF4-FFF2-40B4-BE49-F238E27FC236}">
                <a16:creationId xmlns:a16="http://schemas.microsoft.com/office/drawing/2014/main" id="{5D166B22-8293-429F-A838-7C07A9E3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Ângulo zenital</a:t>
            </a:r>
          </a:p>
        </p:txBody>
      </p:sp>
      <p:sp>
        <p:nvSpPr>
          <p:cNvPr id="18" name="conteudo_2">
            <a:extLst xmlns:a="http://schemas.openxmlformats.org/drawingml/2006/main">
              <a:ext uri="{FF2B5EF4-FFF2-40B4-BE49-F238E27FC236}">
                <a16:creationId xmlns:a16="http://schemas.microsoft.com/office/drawing/2014/main" id="{C7B2AA40-9CAA-4BC2-B618-707A1394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2412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Da vertical até a direção do Sol.</a:t>
            </a:r>
          </a:p>
        </p:txBody>
      </p:sp>
      <p:sp>
        <p:nvSpPr>
          <p:cNvPr id="19" name="conteudo_3">
            <a:extLst xmlns:a="http://schemas.openxmlformats.org/drawingml/2006/main">
              <a:ext uri="{FF2B5EF4-FFF2-40B4-BE49-F238E27FC236}">
                <a16:creationId xmlns:a16="http://schemas.microsoft.com/office/drawing/2014/main" id="{7A8EC7AD-7A14-4A10-ADCB-0A1B60F3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7662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Elevação solar</a:t>
            </a:r>
          </a:p>
        </p:txBody>
      </p:sp>
      <p:sp>
        <p:nvSpPr>
          <p:cNvPr id="20" name="conteudo_4">
            <a:extLst xmlns:a="http://schemas.openxmlformats.org/drawingml/2006/main">
              <a:ext uri="{FF2B5EF4-FFF2-40B4-BE49-F238E27FC236}">
                <a16:creationId xmlns:a16="http://schemas.microsoft.com/office/drawing/2014/main" id="{1FD6CC66-BAE4-48E8-A74D-3474163F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Da horizontal até a direção do Sol.</a:t>
            </a:r>
          </a:p>
        </p:txBody>
      </p:sp>
      <p:pic>
        <p:nvPicPr>
          <p:cNvPr id="21" name="EQ_elevacao" descr="EQ_elevacao — figura científica de alto contraste; fonte e dados no pacote reproduzível">
            <a:extLst xmlns:a="http://schemas.openxmlformats.org/drawingml/2006/main">
              <a:ext uri="{FF2B5EF4-FFF2-40B4-BE49-F238E27FC236}">
                <a16:creationId xmlns:a16="http://schemas.microsoft.com/office/drawing/2014/main" id="{C56C2E7D-1784-4923-9B14-5864BDAD27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8aeb87fe84934">
            <a:extLst>
              <a:ext uri="{96DAC541-7B7A-43D3-8B79-37D633B846F1}">
                <asvg:svgBlip xmlns:asvg="http://schemas.microsoft.com/office/drawing/2016/SVG/main" r:embed="R6ac2cd9bdc8540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53415" y="4810125"/>
            <a:ext cx="2200294" cy="495300"/>
          </a:xfrm>
          <a:prstGeom xmlns:a="http://schemas.openxmlformats.org/drawingml/2006/main" prst="rect">
            <a:avLst/>
          </a:prstGeom>
        </p:spPr>
      </p:pic>
      <p:sp>
        <p:nvSpPr>
          <p:cNvPr id="22" name="conteudo_6">
            <a:extLst xmlns:a="http://schemas.openxmlformats.org/drawingml/2006/main">
              <a:ext uri="{FF2B5EF4-FFF2-40B4-BE49-F238E27FC236}">
                <a16:creationId xmlns:a16="http://schemas.microsoft.com/office/drawing/2014/main" id="{C9235CFD-C9C5-49A5-AB27-A8CFC633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Norte 0° · Leste 90° · Sul 180° · Oeste 270°</a:t>
            </a:r>
          </a:p>
        </p:txBody>
      </p:sp>
      <p:sp>
        <p:nvSpPr>
          <p:cNvPr id="23" name="fontes_verificadas">
            <a:extLst xmlns:a="http://schemas.openxmlformats.org/drawingml/2006/main">
              <a:ext uri="{FF2B5EF4-FFF2-40B4-BE49-F238E27FC236}">
                <a16:creationId xmlns:a16="http://schemas.microsoft.com/office/drawing/2014/main" id="{0E10FFBE-1226-4354-8777-C8450EAD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Fontes: Duffie, Beckman e Blair (2020), p. 13; Sengupta et al. (2024), cap. 2, p. 8.</a:t>
            </a:r>
          </a:p>
        </p:txBody>
      </p:sp>
    </p:spTree>
    <p:extLst>
      <p:ext uri="{BB962C8B-B14F-4D97-AF65-F5344CB8AC3E}">
        <p14:creationId xmlns:p14="http://schemas.microsoft.com/office/powerpoint/2010/main" val="7357382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99CADCD-D524-4713-88A4-26E6C918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AEFAFF6-D059-414B-83B0-D981C468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112654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D1593C-A35F-46EA-B8ED-C8A72964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1440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UFPB  ·  CEAR  ·  PPGER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C1B9222-BD73-495F-A49D-1E39EC97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1440"/>
            <a:ext cx="29443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SPGER0046  ·  29 OUT 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EDE4CA3-9331-477D-A5DB-66EF5D53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7376"/>
            <a:ext cx="11265408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FD5AF62-E7B4-41CF-8240-1C1AB891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83680"/>
            <a:ext cx="10561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0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Recurso solar e modelagem da conversão fotovoltaica</a:t>
            </a:r>
          </a:p>
        </p:txBody>
      </p:sp>
      <p:sp>
        <p:nvSpPr>
          <p:cNvPr id="13" name="PAGINA_EDITAVEL_05">
            <a:extLst xmlns:a="http://schemas.openxmlformats.org/drawingml/2006/main">
              <a:ext uri="{FF2B5EF4-FFF2-40B4-BE49-F238E27FC236}">
                <a16:creationId xmlns:a16="http://schemas.microsoft.com/office/drawing/2014/main" id="{4BF8BE00-2B93-407C-A491-0EFF2306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65392"/>
            <a:ext cx="48463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4" name="titulo_secao11">
            <a:extLst xmlns:a="http://schemas.openxmlformats.org/drawingml/2006/main">
              <a:ext uri="{FF2B5EF4-FFF2-40B4-BE49-F238E27FC236}">
                <a16:creationId xmlns:a16="http://schemas.microsoft.com/office/drawing/2014/main" id="{9A6F608C-3213-42F6-951F-6913B8C3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81025"/>
            <a:ext cx="1109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1.1 · RELAÇÃO DO ÂNGULO ZENITAL</a:t>
            </a:r>
          </a:p>
        </p:txBody>
      </p:sp>
      <p:sp>
        <p:nvSpPr>
          <p:cNvPr id="15" name="enunciado">
            <a:extLst xmlns:a="http://schemas.openxmlformats.org/drawingml/2006/main">
              <a:ext uri="{FF2B5EF4-FFF2-40B4-BE49-F238E27FC236}">
                <a16:creationId xmlns:a16="http://schemas.microsoft.com/office/drawing/2014/main" id="{6C72ECDA-EE13-4E98-AA62-17FC5D3F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3500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Relação esférica para a direção solar geométrica.</a:t>
            </a:r>
          </a:p>
        </p:txBody>
      </p:sp>
      <p:pic>
        <p:nvPicPr>
          <p:cNvPr id="16" name="EQ_zenital" descr="EQ_zenital — figura científica de alto contraste; fonte e dados no pacote reproduzível">
            <a:extLst xmlns:a="http://schemas.openxmlformats.org/drawingml/2006/main">
              <a:ext uri="{FF2B5EF4-FFF2-40B4-BE49-F238E27FC236}">
                <a16:creationId xmlns:a16="http://schemas.microsoft.com/office/drawing/2014/main" id="{27F7E055-5FD6-43D6-8CDC-0AB75C3BD2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fc8ef644040c4">
            <a:extLst>
              <a:ext uri="{96DAC541-7B7A-43D3-8B79-37D633B846F1}">
                <asvg:svgBlip xmlns:asvg="http://schemas.microsoft.com/office/drawing/2016/SVG/main" r:embed="R52c6a493e66e4a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55930" y="2095500"/>
            <a:ext cx="8480140" cy="762000"/>
          </a:xfrm>
          <a:prstGeom xmlns:a="http://schemas.openxmlformats.org/drawingml/2006/main" prst="rect">
            <a:avLst/>
          </a:prstGeom>
        </p:spPr>
      </p:pic>
      <p:sp>
        <p:nvSpPr>
          <p:cNvPr id="17" name="conteudo_1">
            <a:extLst xmlns:a="http://schemas.openxmlformats.org/drawingml/2006/main">
              <a:ext uri="{FF2B5EF4-FFF2-40B4-BE49-F238E27FC236}">
                <a16:creationId xmlns:a16="http://schemas.microsoft.com/office/drawing/2014/main" id="{5AE85B66-111E-4DAF-B11B-CD6575BA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φ — latitude</a:t>
            </a:r>
          </a:p>
        </p:txBody>
      </p:sp>
      <p:sp>
        <p:nvSpPr>
          <p:cNvPr id="18" name="conteudo_2">
            <a:extLst xmlns:a="http://schemas.openxmlformats.org/drawingml/2006/main">
              <a:ext uri="{FF2B5EF4-FFF2-40B4-BE49-F238E27FC236}">
                <a16:creationId xmlns:a16="http://schemas.microsoft.com/office/drawing/2014/main" id="{072FDF1E-D867-4E84-88DA-2FB05006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319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Posição do observador;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norte positivo.</a:t>
            </a:r>
          </a:p>
        </p:txBody>
      </p:sp>
      <p:sp>
        <p:nvSpPr>
          <p:cNvPr id="19" name="conteudo_3">
            <a:extLst xmlns:a="http://schemas.openxmlformats.org/drawingml/2006/main">
              <a:ext uri="{FF2B5EF4-FFF2-40B4-BE49-F238E27FC236}">
                <a16:creationId xmlns:a16="http://schemas.microsoft.com/office/drawing/2014/main" id="{9FCA4064-419C-4130-A5AF-04543FDF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δ — declinação</a:t>
            </a:r>
          </a:p>
        </p:txBody>
      </p:sp>
      <p:sp>
        <p:nvSpPr>
          <p:cNvPr id="20" name="conteudo_4">
            <a:extLst xmlns:a="http://schemas.openxmlformats.org/drawingml/2006/main">
              <a:ext uri="{FF2B5EF4-FFF2-40B4-BE49-F238E27FC236}">
                <a16:creationId xmlns:a16="http://schemas.microsoft.com/office/drawing/2014/main" id="{5A3A340D-4BAC-4E84-B040-FE86EEE6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319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Posição solar em relação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ao equador celeste.</a:t>
            </a:r>
          </a:p>
        </p:txBody>
      </p:sp>
      <p:sp>
        <p:nvSpPr>
          <p:cNvPr id="21" name="conteudo_5">
            <a:extLst xmlns:a="http://schemas.openxmlformats.org/drawingml/2006/main">
              <a:ext uri="{FF2B5EF4-FFF2-40B4-BE49-F238E27FC236}">
                <a16:creationId xmlns:a16="http://schemas.microsoft.com/office/drawing/2014/main" id="{5046086F-AC04-4A85-B4F2-17DDAE48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ω — ângulo horário</a:t>
            </a:r>
          </a:p>
        </p:txBody>
      </p:sp>
      <p:sp>
        <p:nvSpPr>
          <p:cNvPr id="22" name="conteudo_6">
            <a:extLst xmlns:a="http://schemas.openxmlformats.org/drawingml/2006/main">
              <a:ext uri="{FF2B5EF4-FFF2-40B4-BE49-F238E27FC236}">
                <a16:creationId xmlns:a16="http://schemas.microsoft.com/office/drawing/2014/main" id="{BFF5D612-8172-48A3-8CFF-2719E199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Rotação em relação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ao meio-dia solar.</a:t>
            </a:r>
          </a:p>
        </p:txBody>
      </p:sp>
      <p:pic>
        <p:nvPicPr>
          <p:cNvPr id="23" name="EQ_horario" descr="EQ_horario — figura científica de alto contraste; fonte e dados no pacote reproduzível">
            <a:extLst xmlns:a="http://schemas.openxmlformats.org/drawingml/2006/main">
              <a:ext uri="{FF2B5EF4-FFF2-40B4-BE49-F238E27FC236}">
                <a16:creationId xmlns:a16="http://schemas.microsoft.com/office/drawing/2014/main" id="{FB79C356-5B20-4F8D-96CF-C37991E5D0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561ef9b0346c8">
            <a:extLst>
              <a:ext uri="{96DAC541-7B7A-43D3-8B79-37D633B846F1}">
                <asvg:svgBlip xmlns:asvg="http://schemas.microsoft.com/office/drawing/2016/SVG/main" r:embed="R93c0de8a2ef84d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12724" y="4857750"/>
            <a:ext cx="2632552" cy="857250"/>
          </a:xfrm>
          <a:prstGeom xmlns:a="http://schemas.openxmlformats.org/drawingml/2006/main" prst="rect">
            <a:avLst/>
          </a:prstGeom>
        </p:spPr>
      </p:pic>
      <p:sp>
        <p:nvSpPr>
          <p:cNvPr id="24" name="conteudo_8">
            <a:extLst xmlns:a="http://schemas.openxmlformats.org/drawingml/2006/main">
              <a:ext uri="{FF2B5EF4-FFF2-40B4-BE49-F238E27FC236}">
                <a16:creationId xmlns:a16="http://schemas.microsoft.com/office/drawing/2014/main" id="{2F8C2D48-64EF-4BE5-8710-8EA4025D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53000"/>
            <a:ext cx="452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Manhã: ω &lt; 0°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Tarde: ω &gt; 0°</a:t>
            </a:r>
          </a:p>
        </p:txBody>
      </p:sp>
      <p:sp>
        <p:nvSpPr>
          <p:cNvPr id="25" name="conteudo_9">
            <a:extLst xmlns:a="http://schemas.openxmlformats.org/drawingml/2006/main">
              <a:ext uri="{FF2B5EF4-FFF2-40B4-BE49-F238E27FC236}">
                <a16:creationId xmlns:a16="http://schemas.microsoft.com/office/drawing/2014/main" id="{98760528-CF70-4555-9F70-2725B42A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95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95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95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95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95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95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95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95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95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Ângulos em graus na exposição; conversão para radianos no código.</a:t>
            </a:r>
          </a:p>
        </p:txBody>
      </p:sp>
      <p:sp>
        <p:nvSpPr>
          <p:cNvPr id="26" name="fontes_verificadas">
            <a:extLst xmlns:a="http://schemas.openxmlformats.org/drawingml/2006/main">
              <a:ext uri="{FF2B5EF4-FFF2-40B4-BE49-F238E27FC236}">
                <a16:creationId xmlns:a16="http://schemas.microsoft.com/office/drawing/2014/main" id="{156942C8-64D7-486B-A6F1-CFEC7058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Fontes: Duffie, Beckman e Blair (2020), p. 13–15; Reda e Andreas (2008), p. 10–11.</a:t>
            </a:r>
          </a:p>
        </p:txBody>
      </p:sp>
    </p:spTree>
    <p:extLst>
      <p:ext uri="{BB962C8B-B14F-4D97-AF65-F5344CB8AC3E}">
        <p14:creationId xmlns:p14="http://schemas.microsoft.com/office/powerpoint/2010/main" val="18343271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2B9FD6F-ECFB-453E-8E10-33630C28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6EDC46B-F1AC-4979-916B-757BEAAA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112654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BC60F7-2B18-47BA-97A3-BD1D4148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1440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UFPB  ·  CEAR  ·  PPGER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5342C0D-B9FE-4988-B904-94D4B13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1440"/>
            <a:ext cx="29443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SPGER0046  ·  29 OUT 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9D9D5E1-8A73-42B4-BB9F-1AFD0950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7376"/>
            <a:ext cx="11265408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202E694-2769-40D8-A9AE-7A890555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83680"/>
            <a:ext cx="10561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0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Recurso solar e modelagem da conversão fotovoltaica</a:t>
            </a:r>
          </a:p>
        </p:txBody>
      </p:sp>
      <p:sp>
        <p:nvSpPr>
          <p:cNvPr id="13" name="PAGINA_EDITAVEL_06">
            <a:extLst xmlns:a="http://schemas.openxmlformats.org/drawingml/2006/main">
              <a:ext uri="{FF2B5EF4-FFF2-40B4-BE49-F238E27FC236}">
                <a16:creationId xmlns:a16="http://schemas.microsoft.com/office/drawing/2014/main" id="{EEB4BBC2-24D5-48BA-B390-82617030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65392"/>
            <a:ext cx="48463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4" name="titulo_secao11">
            <a:extLst xmlns:a="http://schemas.openxmlformats.org/drawingml/2006/main">
              <a:ext uri="{FF2B5EF4-FFF2-40B4-BE49-F238E27FC236}">
                <a16:creationId xmlns:a16="http://schemas.microsoft.com/office/drawing/2014/main" id="{509B3471-6629-469C-9AF2-C9F0EE65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81025"/>
            <a:ext cx="1109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1.1 · IRRADIÂNCIA EXTRATERRESTRE</a:t>
            </a:r>
          </a:p>
        </p:txBody>
      </p:sp>
      <p:sp>
        <p:nvSpPr>
          <p:cNvPr id="15" name="enunciado">
            <a:extLst xmlns:a="http://schemas.openxmlformats.org/drawingml/2006/main">
              <a:ext uri="{FF2B5EF4-FFF2-40B4-BE49-F238E27FC236}">
                <a16:creationId xmlns:a16="http://schemas.microsoft.com/office/drawing/2014/main" id="{47745E35-5C3B-4053-870D-6CFF3F72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3500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Referência radiativa anterior à interação com a atmosfera.</a:t>
            </a:r>
          </a:p>
        </p:txBody>
      </p:sp>
      <p:pic>
        <p:nvPicPr>
          <p:cNvPr id="16" name="EQ_distancia" descr="EQ_distancia — figura científica de alto contraste; fonte e dados no pacote reproduzível">
            <a:extLst xmlns:a="http://schemas.openxmlformats.org/drawingml/2006/main">
              <a:ext uri="{FF2B5EF4-FFF2-40B4-BE49-F238E27FC236}">
                <a16:creationId xmlns:a16="http://schemas.microsoft.com/office/drawing/2014/main" id="{EE94056F-9B1C-43A9-8337-B614EC76A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1424b4d9b4257">
            <a:extLst>
              <a:ext uri="{96DAC541-7B7A-43D3-8B79-37D633B846F1}">
                <asvg:svgBlip xmlns:asvg="http://schemas.microsoft.com/office/drawing/2016/SVG/main" r:embed="Rf4dbce14225641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33172" y="1857375"/>
            <a:ext cx="3239406" cy="714375"/>
          </a:xfrm>
          <a:prstGeom xmlns:a="http://schemas.openxmlformats.org/drawingml/2006/main" prst="rect">
            <a:avLst/>
          </a:prstGeom>
        </p:spPr>
      </p:pic>
      <p:sp>
        <p:nvSpPr>
          <p:cNvPr id="17" name="conteudo_1">
            <a:extLst xmlns:a="http://schemas.openxmlformats.org/drawingml/2006/main">
              <a:ext uri="{FF2B5EF4-FFF2-40B4-BE49-F238E27FC236}">
                <a16:creationId xmlns:a16="http://schemas.microsoft.com/office/drawing/2014/main" id="{590BA899-4ED6-4579-9C06-FB387B8A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71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Gsc = 1 366,1 W m⁻²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Valor fixado no pvlib do projeto.</a:t>
            </a:r>
          </a:p>
        </p:txBody>
      </p:sp>
      <p:pic>
        <p:nvPicPr>
          <p:cNvPr id="18" name="EQ_spencer" descr="EQ_spencer — figura científica de alto contraste; fonte e dados no pacote reproduzível">
            <a:extLst xmlns:a="http://schemas.openxmlformats.org/drawingml/2006/main">
              <a:ext uri="{FF2B5EF4-FFF2-40B4-BE49-F238E27FC236}">
                <a16:creationId xmlns:a16="http://schemas.microsoft.com/office/drawing/2014/main" id="{6C6345FA-5829-495D-AB7C-4ABE812047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6c9ae0cd448a6">
            <a:extLst>
              <a:ext uri="{96DAC541-7B7A-43D3-8B79-37D633B846F1}">
                <asvg:svgBlip xmlns:asvg="http://schemas.microsoft.com/office/drawing/2016/SVG/main" r:embed="R3b8c44721ceb4e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54326" y="2857500"/>
            <a:ext cx="6883347" cy="1047750"/>
          </a:xfrm>
          <a:prstGeom xmlns:a="http://schemas.openxmlformats.org/drawingml/2006/main" prst="rect">
            <a:avLst/>
          </a:prstGeom>
        </p:spPr>
      </p:pic>
      <p:sp>
        <p:nvSpPr>
          <p:cNvPr id="19" name="conteudo_3">
            <a:extLst xmlns:a="http://schemas.openxmlformats.org/drawingml/2006/main">
              <a:ext uri="{FF2B5EF4-FFF2-40B4-BE49-F238E27FC236}">
                <a16:creationId xmlns:a16="http://schemas.microsoft.com/office/drawing/2014/main" id="{F7E87986-E53B-4170-83A2-F1BD79C2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B = 2π(n − 1)/365; n = dia do ano; B em radianos.</a:t>
            </a:r>
          </a:p>
        </p:txBody>
      </p:sp>
      <p:pic>
        <p:nvPicPr>
          <p:cNvPr id="20" name="EQ_projecao" descr="EQ_projecao — figura científica de alto contraste; fonte e dados no pacote reproduzível">
            <a:extLst xmlns:a="http://schemas.openxmlformats.org/drawingml/2006/main">
              <a:ext uri="{FF2B5EF4-FFF2-40B4-BE49-F238E27FC236}">
                <a16:creationId xmlns:a16="http://schemas.microsoft.com/office/drawing/2014/main" id="{4A1B0388-993C-4124-9355-7E35286A3F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2687755464225">
            <a:extLst>
              <a:ext uri="{96DAC541-7B7A-43D3-8B79-37D633B846F1}">
                <asvg:svgBlip xmlns:asvg="http://schemas.microsoft.com/office/drawing/2016/SVG/main" r:embed="Rab842a6d23d54b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56818" y="4762500"/>
            <a:ext cx="4478364" cy="619125"/>
          </a:xfrm>
          <a:prstGeom xmlns:a="http://schemas.openxmlformats.org/drawingml/2006/main" prst="rect">
            <a:avLst/>
          </a:prstGeom>
        </p:spPr>
      </p:pic>
      <p:sp>
        <p:nvSpPr>
          <p:cNvPr id="21" name="conteudo_5">
            <a:extLst xmlns:a="http://schemas.openxmlformats.org/drawingml/2006/main">
              <a:ext uri="{FF2B5EF4-FFF2-40B4-BE49-F238E27FC236}">
                <a16:creationId xmlns:a16="http://schemas.microsoft.com/office/drawing/2014/main" id="{789073D4-E339-48DB-8CF0-D97A4DAF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G₀h é referência extraterrestre; GHI é irradiância na superfície.</a:t>
            </a:r>
          </a:p>
        </p:txBody>
      </p:sp>
      <p:sp>
        <p:nvSpPr>
          <p:cNvPr id="22" name="fontes_verificadas">
            <a:extLst xmlns:a="http://schemas.openxmlformats.org/drawingml/2006/main">
              <a:ext uri="{FF2B5EF4-FFF2-40B4-BE49-F238E27FC236}">
                <a16:creationId xmlns:a16="http://schemas.microsoft.com/office/drawing/2014/main" id="{383F4D19-6392-412B-B8FB-7C6ACCD1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Fontes: Duffie, Beckman e Blair (2020), p. 9; pvlib 0.16.1, get_extra_radiation.</a:t>
            </a:r>
          </a:p>
        </p:txBody>
      </p:sp>
    </p:spTree>
    <p:extLst>
      <p:ext uri="{BB962C8B-B14F-4D97-AF65-F5344CB8AC3E}">
        <p14:creationId xmlns:p14="http://schemas.microsoft.com/office/powerpoint/2010/main" val="916031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ABF8C79-177E-4564-A911-4BDD1C7F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7E5FA3-3938-42EE-94E7-05ED085B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112654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3A6AD38-5652-485F-8E0C-19D0418E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1440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UFPB  ·  CEAR  ·  PPGER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6667EC8-8A04-4993-ABB5-A3A8CEE1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1440"/>
            <a:ext cx="29443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SPGER0046  ·  29 OUT 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C1FD454-2FA1-4DC2-81B1-3655C9B9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7376"/>
            <a:ext cx="11265408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374B95A-EA6A-4103-AFA7-0A4B2634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83680"/>
            <a:ext cx="10561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0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Recurso solar e modelagem da conversão fotovoltaica</a:t>
            </a:r>
          </a:p>
        </p:txBody>
      </p:sp>
      <p:sp>
        <p:nvSpPr>
          <p:cNvPr id="13" name="PAGINA_EDITAVEL_07">
            <a:extLst xmlns:a="http://schemas.openxmlformats.org/drawingml/2006/main">
              <a:ext uri="{FF2B5EF4-FFF2-40B4-BE49-F238E27FC236}">
                <a16:creationId xmlns:a16="http://schemas.microsoft.com/office/drawing/2014/main" id="{BF8B2431-D721-464F-94B2-AD8ECFC9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65392"/>
            <a:ext cx="48463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14" name="titulo_secao11">
            <a:extLst xmlns:a="http://schemas.openxmlformats.org/drawingml/2006/main">
              <a:ext uri="{FF2B5EF4-FFF2-40B4-BE49-F238E27FC236}">
                <a16:creationId xmlns:a16="http://schemas.microsoft.com/office/drawing/2014/main" id="{10FFFC66-7928-4B3B-B528-334901CC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81025"/>
            <a:ext cx="1109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1.1 · IMPLEMENTAÇÃO COMPUTACIONAL</a:t>
            </a:r>
          </a:p>
        </p:txBody>
      </p:sp>
      <p:sp>
        <p:nvSpPr>
          <p:cNvPr id="15" name="enunciado">
            <a:extLst xmlns:a="http://schemas.openxmlformats.org/drawingml/2006/main">
              <a:ext uri="{FF2B5EF4-FFF2-40B4-BE49-F238E27FC236}">
                <a16:creationId xmlns:a16="http://schemas.microsoft.com/office/drawing/2014/main" id="{56D4B081-BEE1-4A07-A3DB-A90C3961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3500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SPA e Spencer recebem entradas temporais e cumprem funções distintas.</a:t>
            </a:r>
          </a:p>
        </p:txBody>
      </p:sp>
      <p:pic>
        <p:nvPicPr>
          <p:cNvPr id="16" name="D02_fluxo_geometria" descr="D02_fluxo_geometria — figura científica de alto contraste; fonte e dados no pacote reproduzível">
            <a:extLst xmlns:a="http://schemas.openxmlformats.org/drawingml/2006/main">
              <a:ext uri="{FF2B5EF4-FFF2-40B4-BE49-F238E27FC236}">
                <a16:creationId xmlns:a16="http://schemas.microsoft.com/office/drawing/2014/main" id="{1D3CBA09-AF9D-4A85-950D-6A5C13BFC6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f539d0d8b43b6">
            <a:extLst>
              <a:ext uri="{96DAC541-7B7A-43D3-8B79-37D633B846F1}">
                <asvg:svgBlip xmlns:asvg="http://schemas.microsoft.com/office/drawing/2016/SVG/main" r:embed="R9edb2fb5a54c48d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92907" y="1905000"/>
            <a:ext cx="9006187" cy="3524250"/>
          </a:xfrm>
          <a:prstGeom xmlns:a="http://schemas.openxmlformats.org/drawingml/2006/main" prst="rect">
            <a:avLst/>
          </a:prstGeom>
        </p:spPr>
      </p:pic>
      <p:sp>
        <p:nvSpPr>
          <p:cNvPr id="17" name="conteudo_1">
            <a:extLst xmlns:a="http://schemas.openxmlformats.org/drawingml/2006/main">
              <a:ext uri="{FF2B5EF4-FFF2-40B4-BE49-F238E27FC236}">
                <a16:creationId xmlns:a16="http://schemas.microsoft.com/office/drawing/2014/main" id="{BE3E0461-9315-4005-AEE3-66092B4A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Rótulo = início · Δt = 15 min · cálculo em t + 7 min 30 s</a:t>
            </a:r>
          </a:p>
        </p:txBody>
      </p:sp>
      <p:sp>
        <p:nvSpPr>
          <p:cNvPr id="18" name="conteudo_2">
            <a:extLst xmlns:a="http://schemas.openxmlformats.org/drawingml/2006/main">
              <a:ext uri="{FF2B5EF4-FFF2-40B4-BE49-F238E27FC236}">
                <a16:creationId xmlns:a16="http://schemas.microsoft.com/office/drawing/2014/main" id="{663FFA2D-524D-4E89-8BA0-573F3610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Em 17/05/2024: America/Los_Angeles = UTC−7.</a:t>
            </a:r>
          </a:p>
        </p:txBody>
      </p:sp>
      <p:sp>
        <p:nvSpPr>
          <p:cNvPr id="19" name="fontes_verificadas">
            <a:extLst xmlns:a="http://schemas.openxmlformats.org/drawingml/2006/main">
              <a:ext uri="{FF2B5EF4-FFF2-40B4-BE49-F238E27FC236}">
                <a16:creationId xmlns:a16="http://schemas.microsoft.com/office/drawing/2014/main" id="{E157A3FC-04B3-4060-921C-23B405B1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Fontes: configuração do projeto PVDAQ 2107; Reda e Andreas (2008); pvlib 0.16.1.</a:t>
            </a:r>
          </a:p>
        </p:txBody>
      </p:sp>
    </p:spTree>
    <p:extLst>
      <p:ext uri="{BB962C8B-B14F-4D97-AF65-F5344CB8AC3E}">
        <p14:creationId xmlns:p14="http://schemas.microsoft.com/office/powerpoint/2010/main" val="10069378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721FB7-340F-4E08-B0C0-B616AD80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8F585F-296C-4CCA-8BE3-6DE5157D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112654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D6D075-5508-48CD-BCCE-1E3C5ADB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1440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UFPB  ·  CEAR  ·  PPGER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3022B27-8165-4561-AAEA-0C9A680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1440"/>
            <a:ext cx="29443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SPGER0046  ·  29 OUT 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F07457A-B187-4DFC-98ED-FFB3ED7E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7376"/>
            <a:ext cx="11265408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25503B-F94A-4710-9D94-EBF5F611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83680"/>
            <a:ext cx="10561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0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Recurso solar e modelagem da conversão fotovoltaica</a:t>
            </a:r>
          </a:p>
        </p:txBody>
      </p:sp>
      <p:sp>
        <p:nvSpPr>
          <p:cNvPr id="13" name="PAGINA_EDITAVEL_08">
            <a:extLst xmlns:a="http://schemas.openxmlformats.org/drawingml/2006/main">
              <a:ext uri="{FF2B5EF4-FFF2-40B4-BE49-F238E27FC236}">
                <a16:creationId xmlns:a16="http://schemas.microsoft.com/office/drawing/2014/main" id="{0C95935C-FB20-4A89-BC4B-99C6CA5B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65392"/>
            <a:ext cx="48463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4" name="titulo_secao11">
            <a:extLst xmlns:a="http://schemas.openxmlformats.org/drawingml/2006/main">
              <a:ext uri="{FF2B5EF4-FFF2-40B4-BE49-F238E27FC236}">
                <a16:creationId xmlns:a16="http://schemas.microsoft.com/office/drawing/2014/main" id="{E2BA4FC2-DE79-42C3-A4E3-0D307DAA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81025"/>
            <a:ext cx="1109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1.1 · PVDAQ 2107 EM 17/05/2024</a:t>
            </a:r>
          </a:p>
        </p:txBody>
      </p:sp>
      <p:sp>
        <p:nvSpPr>
          <p:cNvPr id="15" name="enunciado">
            <a:extLst xmlns:a="http://schemas.openxmlformats.org/drawingml/2006/main">
              <a:ext uri="{FF2B5EF4-FFF2-40B4-BE49-F238E27FC236}">
                <a16:creationId xmlns:a16="http://schemas.microsoft.com/office/drawing/2014/main" id="{527F85EF-65A5-4B1B-A4A9-92402760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3500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Arbuckle, Califórnia · 38,996306° N; 122,134111° O · 10 m</a:t>
            </a:r>
          </a:p>
        </p:txBody>
      </p:sp>
      <p:pic>
        <p:nvPicPr>
          <p:cNvPr id="16" name="G01_recurso_geometria_escuro" descr="G01_recurso_geometria_escuro — figura científica de alto contraste; fonte e dados no pacote reproduzível">
            <a:extLst xmlns:a="http://schemas.openxmlformats.org/drawingml/2006/main">
              <a:ext uri="{FF2B5EF4-FFF2-40B4-BE49-F238E27FC236}">
                <a16:creationId xmlns:a16="http://schemas.microsoft.com/office/drawing/2014/main" id="{D71D0226-CE53-4F99-B69F-EBF68194B6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65652d0494693">
            <a:extLst>
              <a:ext uri="{96DAC541-7B7A-43D3-8B79-37D633B846F1}">
                <asvg:svgBlip xmlns:asvg="http://schemas.microsoft.com/office/drawing/2016/SVG/main" r:embed="R79edf38deeaa45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858225"/>
            <a:ext cx="7572375" cy="4236924"/>
          </a:xfrm>
          <a:prstGeom xmlns:a="http://schemas.openxmlformats.org/drawingml/2006/main" prst="rect">
            <a:avLst/>
          </a:prstGeom>
        </p:spPr>
      </p:pic>
      <p:sp>
        <p:nvSpPr>
          <p:cNvPr id="17" name="conteudo_1">
            <a:extLst xmlns:a="http://schemas.openxmlformats.org/drawingml/2006/main">
              <a:ext uri="{FF2B5EF4-FFF2-40B4-BE49-F238E27FC236}">
                <a16:creationId xmlns:a16="http://schemas.microsoft.com/office/drawing/2014/main" id="{F76B41FA-DE65-42F9-99A8-89E22A49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POA medida</a:t>
            </a:r>
          </a:p>
        </p:txBody>
      </p:sp>
      <p:sp>
        <p:nvSpPr>
          <p:cNvPr id="18" name="conteudo_2">
            <a:extLst xmlns:a="http://schemas.openxmlformats.org/drawingml/2006/main">
              <a:ext uri="{FF2B5EF4-FFF2-40B4-BE49-F238E27FC236}">
                <a16:creationId xmlns:a16="http://schemas.microsoft.com/office/drawing/2014/main" id="{7B914149-A2F4-4013-90F7-4F0A9932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3190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Média em intervalos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 15 minutos.</a:t>
            </a:r>
          </a:p>
        </p:txBody>
      </p:sp>
      <p:sp>
        <p:nvSpPr>
          <p:cNvPr id="19" name="conteudo_3">
            <a:extLst xmlns:a="http://schemas.openxmlformats.org/drawingml/2006/main">
              <a:ext uri="{FF2B5EF4-FFF2-40B4-BE49-F238E27FC236}">
                <a16:creationId xmlns:a16="http://schemas.microsoft.com/office/drawing/2014/main" id="{98866EA8-3C24-454A-A990-ECDFC0A7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Ângulos calculados</a:t>
            </a:r>
          </a:p>
        </p:txBody>
      </p:sp>
      <p:sp>
        <p:nvSpPr>
          <p:cNvPr id="20" name="conteudo_4">
            <a:extLst xmlns:a="http://schemas.openxmlformats.org/drawingml/2006/main">
              <a:ext uri="{FF2B5EF4-FFF2-40B4-BE49-F238E27FC236}">
                <a16:creationId xmlns:a16="http://schemas.microsoft.com/office/drawing/2014/main" id="{FAF910E1-467D-4B0D-82DD-3AA61855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43375"/>
            <a:ext cx="3190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SPA e orientação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do arranjo.</a:t>
            </a:r>
          </a:p>
        </p:txBody>
      </p:sp>
      <p:sp>
        <p:nvSpPr>
          <p:cNvPr id="21" name="conteudo_5">
            <a:extLst xmlns:a="http://schemas.openxmlformats.org/drawingml/2006/main">
              <a:ext uri="{FF2B5EF4-FFF2-40B4-BE49-F238E27FC236}">
                <a16:creationId xmlns:a16="http://schemas.microsoft.com/office/drawing/2014/main" id="{7B240B63-C49C-442A-8536-44094D64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91125"/>
            <a:ext cx="319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Inclinação: 25°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Azimute: 180°</a:t>
            </a:r>
          </a:p>
        </p:txBody>
      </p:sp>
      <p:sp>
        <p:nvSpPr>
          <p:cNvPr id="22" name="fontes_verificadas">
            <a:extLst xmlns:a="http://schemas.openxmlformats.org/drawingml/2006/main">
              <a:ext uri="{FF2B5EF4-FFF2-40B4-BE49-F238E27FC236}">
                <a16:creationId xmlns:a16="http://schemas.microsoft.com/office/drawing/2014/main" id="{629FE8EB-AA2B-4ABA-932B-CDEF15FE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G01 — Fonte: POA/PVDAQ 2107 e cálculos SPA da equipe. Curvas no ponto médio; sem interpolação.</a:t>
            </a:r>
          </a:p>
        </p:txBody>
      </p:sp>
    </p:spTree>
    <p:extLst>
      <p:ext uri="{BB962C8B-B14F-4D97-AF65-F5344CB8AC3E}">
        <p14:creationId xmlns:p14="http://schemas.microsoft.com/office/powerpoint/2010/main" val="4516810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5266ED-C138-4470-8A23-A06CF388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0FFAB02-F1E5-476C-B362-A03745E3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112654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AF32885-67D3-446A-89F4-F58D5BAF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1440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UFPB  ·  CEAR  ·  PPGER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4438DD9-9342-40AB-933B-7B8F6CBC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1440"/>
            <a:ext cx="29443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SPGER0046  ·  29 OUT 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3F8C6C3-823F-48CE-A6A9-35AF5425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7376"/>
            <a:ext cx="11265408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C50E893-8601-48F2-93EF-FA499D41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83680"/>
            <a:ext cx="10561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0" rIns="36576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0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Recurso solar e modelagem da conversão fotovoltaica</a:t>
            </a:r>
          </a:p>
        </p:txBody>
      </p:sp>
      <p:sp>
        <p:nvSpPr>
          <p:cNvPr id="13" name="PAGINA_EDITAVEL_09">
            <a:extLst xmlns:a="http://schemas.openxmlformats.org/drawingml/2006/main">
              <a:ext uri="{FF2B5EF4-FFF2-40B4-BE49-F238E27FC236}">
                <a16:creationId xmlns:a16="http://schemas.microsoft.com/office/drawing/2014/main" id="{CD471990-46A9-422C-97FF-87202AFA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65392"/>
            <a:ext cx="48463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14" name="titulo_secao11">
            <a:extLst xmlns:a="http://schemas.openxmlformats.org/drawingml/2006/main">
              <a:ext uri="{FF2B5EF4-FFF2-40B4-BE49-F238E27FC236}">
                <a16:creationId xmlns:a16="http://schemas.microsoft.com/office/drawing/2014/main" id="{F4208940-C499-4332-80DC-38045386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81025"/>
            <a:ext cx="1109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1.1 · SÍNTESE E LIMITES</a:t>
            </a:r>
          </a:p>
        </p:txBody>
      </p:sp>
      <p:sp>
        <p:nvSpPr>
          <p:cNvPr id="15" name="enunciado">
            <a:extLst xmlns:a="http://schemas.openxmlformats.org/drawingml/2006/main">
              <a:ext uri="{FF2B5EF4-FFF2-40B4-BE49-F238E27FC236}">
                <a16:creationId xmlns:a16="http://schemas.microsoft.com/office/drawing/2014/main" id="{DB063FAC-8CA0-4D0D-B20B-BEC32777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3500"/>
            <a:ext cx="1095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A geometria estabelece o referencial para caracterizar o recurso solar.</a:t>
            </a:r>
          </a:p>
        </p:txBody>
      </p:sp>
      <p:sp>
        <p:nvSpPr>
          <p:cNvPr id="16" name="conteudo_0">
            <a:extLst xmlns:a="http://schemas.openxmlformats.org/drawingml/2006/main">
              <a:ext uri="{FF2B5EF4-FFF2-40B4-BE49-F238E27FC236}">
                <a16:creationId xmlns:a16="http://schemas.microsoft.com/office/drawing/2014/main" id="{213C38C7-BE24-415A-B73C-51684CFD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A GEOMETRIA FORNECE</a:t>
            </a:r>
          </a:p>
        </p:txBody>
      </p:sp>
      <p:sp>
        <p:nvSpPr>
          <p:cNvPr id="17" name="conteudo_1">
            <a:extLst xmlns:a="http://schemas.openxmlformats.org/drawingml/2006/main">
              <a:ext uri="{FF2B5EF4-FFF2-40B4-BE49-F238E27FC236}">
                <a16:creationId xmlns:a16="http://schemas.microsoft.com/office/drawing/2014/main" id="{AB6BE615-739C-44BC-BFEF-801F3A20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Direção solar, duração do dia e fator de projeção do feixe.</a:t>
            </a:r>
          </a:p>
        </p:txBody>
      </p:sp>
      <p:sp>
        <p:nvSpPr>
          <p:cNvPr id="18" name="conteudo_2">
            <a:extLst xmlns:a="http://schemas.openxmlformats.org/drawingml/2006/main">
              <a:ext uri="{FF2B5EF4-FFF2-40B4-BE49-F238E27FC236}">
                <a16:creationId xmlns:a16="http://schemas.microsoft.com/office/drawing/2014/main" id="{B653D87A-465A-4792-B2B4-E500D853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A ATMOSFERA MODIFICA</a:t>
            </a:r>
          </a:p>
        </p:txBody>
      </p:sp>
      <p:sp>
        <p:nvSpPr>
          <p:cNvPr id="19" name="conteudo_3">
            <a:extLst xmlns:a="http://schemas.openxmlformats.org/drawingml/2006/main">
              <a:ext uri="{FF2B5EF4-FFF2-40B4-BE49-F238E27FC236}">
                <a16:creationId xmlns:a16="http://schemas.microsoft.com/office/drawing/2014/main" id="{41F6BFA0-4A50-4639-8C7A-F0DE4F18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Transmissão, absorção e espalhamento da radiação.</a:t>
            </a:r>
          </a:p>
        </p:txBody>
      </p:sp>
      <p:sp>
        <p:nvSpPr>
          <p:cNvPr id="20" name="conteudo_4">
            <a:extLst xmlns:a="http://schemas.openxmlformats.org/drawingml/2006/main">
              <a:ext uri="{FF2B5EF4-FFF2-40B4-BE49-F238E27FC236}">
                <a16:creationId xmlns:a16="http://schemas.microsoft.com/office/drawing/2014/main" id="{4E1566AB-FBFB-4138-87E9-4807383C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A OBSERVAÇÃO PERMITE CONFRONTAR</a:t>
            </a:r>
          </a:p>
        </p:txBody>
      </p:sp>
      <p:sp>
        <p:nvSpPr>
          <p:cNvPr id="21" name="conteudo_5">
            <a:extLst xmlns:a="http://schemas.openxmlformats.org/drawingml/2006/main">
              <a:ext uri="{FF2B5EF4-FFF2-40B4-BE49-F238E27FC236}">
                <a16:creationId xmlns:a16="http://schemas.microsoft.com/office/drawing/2014/main" id="{19F55F52-9E63-4FC1-831E-2A0B297F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911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Irradiância no plano do sensor e evolução temporal medida.</a:t>
            </a:r>
          </a:p>
        </p:txBody>
      </p:sp>
      <p:sp>
        <p:nvSpPr>
          <p:cNvPr id="22" name="conteudo_6">
            <a:extLst xmlns:a="http://schemas.openxmlformats.org/drawingml/2006/main">
              <a:ext uri="{FF2B5EF4-FFF2-40B4-BE49-F238E27FC236}">
                <a16:creationId xmlns:a16="http://schemas.microsoft.com/office/drawing/2014/main" id="{413F20A3-6088-45B1-A0EA-7B10570A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02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02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02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02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02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02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02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02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02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FFD45C"/>
                </a:solidFill>
                <a:latin typeface="Times New Roman"/>
                <a:ea typeface="Times New Roman"/>
                <a:cs typeface="Times New Roman"/>
              </a:rPr>
              <a:t>1.2 — Irradiância e irradiação; componentes GHI, DNI, DHI e POA.</a:t>
            </a:r>
          </a:p>
        </p:txBody>
      </p:sp>
      <p:sp>
        <p:nvSpPr>
          <p:cNvPr id="23" name="fontes_verificadas">
            <a:extLst xmlns:a="http://schemas.openxmlformats.org/drawingml/2006/main">
              <a:ext uri="{FF2B5EF4-FFF2-40B4-BE49-F238E27FC236}">
                <a16:creationId xmlns:a16="http://schemas.microsoft.com/office/drawing/2014/main" id="{40792869-25D5-4645-B4E8-AD3C8175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Fontes: Duffie, Beckman e Blair (2020), p. 9–15; Sengupta et al. (2024), cap. 2, p. 5–10.</a:t>
            </a:r>
          </a:p>
        </p:txBody>
      </p:sp>
    </p:spTree>
    <p:extLst>
      <p:ext uri="{BB962C8B-B14F-4D97-AF65-F5344CB8AC3E}">
        <p14:creationId xmlns:p14="http://schemas.microsoft.com/office/powerpoint/2010/main" val="187818945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6</Slides>
  <Notes>0</Notes>
  <HiddenSlides>0</HiddenSlides>
  <MMClips>0</MMClips>
  <ScaleCrop>false</ScaleCrop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